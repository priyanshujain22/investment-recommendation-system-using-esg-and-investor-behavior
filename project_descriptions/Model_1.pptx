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6B5C-CB8C-5708-1791-2B393E398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B3B88-F43E-7C93-A958-D99191389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CE061-8405-E391-B926-E8373A44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980E-712F-5A1A-9195-A45762BF6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232D4-B8A7-F9F2-EE39-2521960A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7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C651-83E3-E230-8201-F49A25FD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4EEBE-2102-AE31-4A69-2BAC00C6D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8452F-5273-B1BD-12FD-C493F8E8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58573-E9ED-B1F4-F828-2B32B93C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1761-7EF8-3E31-0E29-4A8B46BC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6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3E02-E771-1B77-761A-F8BE14CF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B825B-4A53-6D86-317B-63D5E9C98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05437-A6A4-07B5-25A1-E90480AB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8D0C5-5F1B-5635-12D8-962B8034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3D12D-4C8B-4796-03EA-E7758397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68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2F25-37E6-1C3D-04A1-2B8F995F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FC0C9-30E4-5414-CE60-00D434B6B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B9386-A4E5-8671-D2F4-DD5B1BE05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50D74-4FB4-B0CE-E74F-B5617A9F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A4992-ED3C-7DFB-8844-53348197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1EB07-98FC-DC2F-524C-5D750E1B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09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BF1A-171E-7D3A-690B-18A444B7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2498D-7EE4-06CA-7BCD-D33049DFC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4A051-FFBD-AA90-6535-AECB2ED97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2AC36-8049-DC7D-F8BB-368C5E065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AA9AD-E895-4373-1BA0-75E76771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3618C-029D-F5BA-3A30-B203E7FD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07226-B295-204B-CAA4-4158E97B5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7E4AB-DB91-BDE0-8E81-C13F08DC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46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C524-7BD0-5112-7616-489B3AB6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B7303-87FE-7111-40F6-20FE288C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2F417-808D-A9E0-30FC-E16E0962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545D8-F626-D21E-EAF2-B6CA5BBD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62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245B1-C875-0BD1-5A69-BC91F23E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56DFC-3096-A7F3-1E99-52975B8F2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145DF-CDC7-95E9-984C-597765DF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356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75B3-4B78-CC9A-3CA6-60A2E97AF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E7A7A-5604-504B-93B3-80ED735B0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F706C-2BC1-F802-71D9-90C1C93D6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F40B7-8742-6F33-F55E-3F57DEFD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9DE13-BB5D-F4F6-6D2F-6BC118D7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1330D-6067-2321-A238-312C6E6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52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F405-6856-D476-476E-58B54E54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50AB0C-934C-9FBB-8DEA-1F0812305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1700C-E3C2-35B1-F283-E7357F575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4E189-2BF2-4289-49B5-232B4327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AAFB4-8269-CD82-99EA-95E59A07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D25C8-F7A3-C45F-AD20-892950A0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47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9CE8-1A12-81A0-D24F-69612AD1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2D04F-7276-968D-E14D-B5BE8A55E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4241-1032-E1E3-AA1C-7CA85248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81534-10CE-71F0-AA00-E31C8519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971CA-9812-E31B-B4B1-48899616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2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08FE9B-749C-FCBF-1F94-096437CC8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22271-DA11-ECCD-C08B-035B360E5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C0C42-00CB-00C3-E6BB-BB1EB119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DD9F5-C2E3-15F0-116F-DA1603AB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4BE35-AB0E-89EF-7FD3-95652615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927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EBF00-611F-A3B1-062E-244F030A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5880C-3E8D-3EFF-277A-D0A86758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71964-384E-A8E1-6311-65140D2BF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51E2A-2FA8-4D89-99F6-1EFE3ED49D5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2DB99-8021-398F-EB21-643A05B2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F9F77-3DD4-05A5-9CBB-54AE988D0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2C1A7-69C3-4BA4-A8C4-E284F1D32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1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487E-1BC2-8D6D-98CC-175E4DA1F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>
                <a:latin typeface="Comic Sans MS"/>
              </a:rPr>
              <a:t>Investment Recommendation System Using ESG and Investor Behavior</a:t>
            </a:r>
            <a:endParaRPr lang="en-IN" sz="5000" dirty="0">
              <a:latin typeface="Comic Sans M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ED520-8EAD-1A29-5076-588B67BB4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IN" sz="2000" b="1" dirty="0"/>
              <a:t>Group 1</a:t>
            </a:r>
          </a:p>
          <a:p>
            <a:pPr marL="228600" indent="-228600" algn="l">
              <a:buAutoNum type="arabicPeriod"/>
            </a:pPr>
            <a:r>
              <a:rPr lang="en-IN" sz="2000" dirty="0"/>
              <a:t>Priyanshu Jain – 2024BTech179.</a:t>
            </a:r>
          </a:p>
          <a:p>
            <a:pPr marL="228600" indent="-228600" algn="l">
              <a:buAutoNum type="arabicPeriod"/>
            </a:pPr>
            <a:r>
              <a:rPr lang="en-IN" sz="2000" dirty="0"/>
              <a:t>Aman Pratap Singh – 2024BTech136.</a:t>
            </a:r>
          </a:p>
          <a:p>
            <a:pPr marL="228600" indent="-228600" algn="l">
              <a:buAutoNum type="arabicPeriod"/>
            </a:pPr>
            <a:r>
              <a:rPr lang="en-IN" sz="2000" dirty="0"/>
              <a:t>Harshit Mundra – 2024BTech186.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B67E3ECA-543A-7DEE-6404-26A1CA58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82" r="35987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3739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934DB-1FDB-0826-E736-95F7AB031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/>
              <a:t>Model 1 – Company Risk Prediction (ESG + Market Data)</a:t>
            </a:r>
            <a:endParaRPr lang="en-IN" sz="42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E05A0-CD67-ADC6-B058-DA90BF788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/>
              <a:t>Objective:</a:t>
            </a:r>
            <a:br>
              <a:rPr lang="en-US" sz="2000"/>
            </a:br>
            <a:r>
              <a:rPr lang="en-US" sz="2000"/>
              <a:t>To analyze how ESG performance combined with market behavior influences stock returns and risk.</a:t>
            </a:r>
          </a:p>
          <a:p>
            <a:r>
              <a:rPr lang="en-US" sz="2000" b="1"/>
              <a:t>Key Inputs:</a:t>
            </a:r>
            <a:endParaRPr lang="en-US" sz="2000"/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ESG component scores (E, S, G).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Market capitalization and sector.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Derived stock performance indicators (returns, volatility, momentum).</a:t>
            </a:r>
          </a:p>
          <a:p>
            <a:r>
              <a:rPr lang="en-US" sz="2000" b="1"/>
              <a:t>Approach:</a:t>
            </a:r>
            <a:endParaRPr lang="en-US" sz="2000"/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ESG and market features are combined into a structured dataset.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Machine learning models learn non-linear relationships between ESG quality and stock behavior.</a:t>
            </a:r>
          </a:p>
          <a:p>
            <a:pPr marL="0" indent="0">
              <a:buNone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76515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2C14E-FA60-98B4-788B-875DE183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1A80B5-0792-F607-F27E-99D0580B224A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Step 1: Data Cleaning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 Date column in the price dataset was converted into proper datetime format and the data was sorted in chronological order.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 dataset was checked for missing (NULL) values to ensure data quality.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Unnecessary columns were removed from the ESG dataset to reduce noise, including: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Full Name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GICS Sub-Industry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Percentile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ratingYear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ratingMonth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overallRisk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C3889-CAE8-1257-0784-EE18B7500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00002"/>
            <a:ext cx="5458968" cy="42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71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F83C5-7726-9617-3E8F-683F98C2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C0520-9187-DA74-6345-F76FEB08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CFF06-0AEB-E3E8-9FF0-506137542DFF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Step 2: Feature Engineering and Data Merging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Daily returns were calculated from stock prices using the formula:</a:t>
            </a:r>
            <a:br>
              <a:rPr lang="en-US" sz="2200"/>
            </a:br>
            <a:r>
              <a:rPr lang="en-US" sz="2200"/>
              <a:t>Return = (Price_today − Price_yesterday) / Price_yesterday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From daily returns, three new features were created: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avg_return (average daily return)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volatility (standard deviation of returns)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momentum_6m (overall price trend over time)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These market features were then merged with the ESG dataset using the Symbol column, keeping only common companies.</a:t>
            </a:r>
          </a:p>
        </p:txBody>
      </p:sp>
    </p:spTree>
    <p:extLst>
      <p:ext uri="{BB962C8B-B14F-4D97-AF65-F5344CB8AC3E}">
        <p14:creationId xmlns:p14="http://schemas.microsoft.com/office/powerpoint/2010/main" val="59145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9F727-2D71-4DC0-0560-B8CB17A7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5686B-0F9F-53B1-A17A-7C40AAEFD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6A138-96BC-5AB0-4FFB-39CF261FC635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Step 3: Risk Score Creation and Classification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The features volatility and totalEsg were normalized to bring them to the same scale.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 composite risk score was created using the formula:</a:t>
            </a:r>
            <a:br>
              <a:rPr lang="en-US" sz="1700"/>
            </a:br>
            <a:r>
              <a:rPr lang="en-US" sz="1700"/>
              <a:t>Risk Score = 0.6 × volatility + 0.4 × (1 − ESG)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The risk score was then converted into three categories: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Low Risk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Medium Risk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High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8966D-FA30-2411-21EC-46CB87E64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811781"/>
            <a:ext cx="5458968" cy="323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91793-E9E1-8580-76DB-9C0A0184B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4B790-EEA0-4135-3076-31D4BCCD5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F4DC0-0579-A3FB-17E7-05126B6443C6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Step 4: Encoding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The categorical column GICS Sector was converted into numerical format using one-hot encoding.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The target variable </a:t>
            </a:r>
            <a:r>
              <a:rPr lang="en-US" sz="1500" dirty="0" err="1"/>
              <a:t>risk_class</a:t>
            </a:r>
            <a:r>
              <a:rPr lang="en-US" sz="1500" dirty="0"/>
              <a:t> was converted into numeric labels using label encoding. </a:t>
            </a:r>
            <a:br>
              <a:rPr lang="en-US" sz="1500" dirty="0"/>
            </a:b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Step 5: Feature Scaling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All input features were scaled using </a:t>
            </a:r>
            <a:r>
              <a:rPr lang="en-US" sz="1500" dirty="0" err="1"/>
              <a:t>StandardScaler</a:t>
            </a:r>
            <a:r>
              <a:rPr lang="en-US" sz="1500" dirty="0"/>
              <a:t>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This ensures that large values like </a:t>
            </a:r>
            <a:r>
              <a:rPr lang="en-US" sz="1500" dirty="0" err="1"/>
              <a:t>marketCap</a:t>
            </a:r>
            <a:r>
              <a:rPr lang="en-US" sz="1500" dirty="0"/>
              <a:t> do not dominate smaller values like beta.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4F828-419C-9EC6-90C4-7CBED95B8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613893"/>
            <a:ext cx="5458968" cy="36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1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03F4-2C8D-79EE-B273-1EBC6E0B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283"/>
            <a:ext cx="10515600" cy="1325563"/>
          </a:xfrm>
        </p:spPr>
        <p:txBody>
          <a:bodyPr/>
          <a:lstStyle/>
          <a:p>
            <a:r>
              <a:rPr lang="en-US" dirty="0"/>
              <a:t>Feature Transformation: From Raw Data to Final Model Inputs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4559B-87BD-5852-12E0-0E264BE72E8B}"/>
              </a:ext>
            </a:extLst>
          </p:cNvPr>
          <p:cNvSpPr txBox="1"/>
          <p:nvPr/>
        </p:nvSpPr>
        <p:spPr>
          <a:xfrm>
            <a:off x="838200" y="2056686"/>
            <a:ext cx="406944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INITIAL FEATURES (Dataset Columns)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Symbol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Full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GICS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GICS Sub-Industry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environmentScore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socialScore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governanceScore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totalEsg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highestControversy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percentile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rating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rating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marketCap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overallRisk</a:t>
            </a:r>
            <a:r>
              <a:rPr lang="en-IN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40CBE-C078-6B91-1930-7F18565050F7}"/>
              </a:ext>
            </a:extLst>
          </p:cNvPr>
          <p:cNvSpPr txBox="1"/>
          <p:nvPr/>
        </p:nvSpPr>
        <p:spPr>
          <a:xfrm>
            <a:off x="6096000" y="2056686"/>
            <a:ext cx="359675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FINAL FEATURES (Used in 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environmentScore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socialScore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governanceScore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highestControversy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marketCap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avg_return</a:t>
            </a:r>
            <a:r>
              <a:rPr lang="en-IN" dirty="0"/>
              <a:t> (Derived)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momentum_6m (Derived)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GICS Sector (Encoded)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DA77D-9151-AF11-42B5-CF9754D09AB9}"/>
              </a:ext>
            </a:extLst>
          </p:cNvPr>
          <p:cNvSpPr txBox="1"/>
          <p:nvPr/>
        </p:nvSpPr>
        <p:spPr>
          <a:xfrm>
            <a:off x="6096000" y="5567422"/>
            <a:ext cx="5681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TARGET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risk_class</a:t>
            </a:r>
            <a:r>
              <a:rPr lang="en-US" dirty="0"/>
              <a:t> (Created from risk score → Label Encoded)</a:t>
            </a:r>
          </a:p>
        </p:txBody>
      </p:sp>
    </p:spTree>
    <p:extLst>
      <p:ext uri="{BB962C8B-B14F-4D97-AF65-F5344CB8AC3E}">
        <p14:creationId xmlns:p14="http://schemas.microsoft.com/office/powerpoint/2010/main" val="202499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D1ADA-4AD8-9F92-32A2-29159CCA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Model: Logistic Regression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8C7FF-C6F9-3C03-539A-D332D682AB5E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Interpretation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model gives moderate performance.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It is able to classify the data but struggles with separating the three risk classes clearly.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It performs better for Medium risk but makes mistakes in High and Low categories.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95D41-ACAB-F511-0EBA-9B4460B4D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146" y="329183"/>
            <a:ext cx="3563603" cy="3429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A16621-0265-3108-E2AE-4AC84A2C5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71925"/>
            <a:ext cx="3995928" cy="139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96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03A50-AA2F-C475-D449-F19FE1B2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808EE-AD1A-7C00-3D30-2DBC748A4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/>
              <a:t>Model: SUPPORT VECTOR MACHINE (SVM)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8E1C2-D6B0-6C6E-472D-D9FD136D574B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Interpretation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Performance is similar to Logistic Regression.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Slight improvement in precision shows better class separation.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Still faces difficulty in distinguishing between Medium and other classes.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7937E0-DA33-31C1-9493-CBC57B5FF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06" y="329183"/>
            <a:ext cx="3572884" cy="3429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40E9A5-E815-2579-03D3-C745B8CE6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77766"/>
            <a:ext cx="3995928" cy="137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91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4B011-BFB8-B2C8-F171-0A2C248C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7C534-8404-61E1-25B8-9280CA137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Model: K-NEAREST NEIGHBORS (KNN)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E639B-1DEA-90E2-1A5D-C8CA9AD6391B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Interpretation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Shows better performance compared to previous models.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Works well because it uses similarity between data points.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Still affected by overlapping between risk classes.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460F0D-022B-9A65-276A-26C68ED11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06" y="329183"/>
            <a:ext cx="3572884" cy="3429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461189-7606-25A2-1959-F1DAC6626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63420"/>
            <a:ext cx="3995928" cy="140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68032-98AD-03D7-FB6C-16184CB3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18B90-7865-CCE7-252F-5A1E66B9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Model: DECISION TREE</a:t>
            </a:r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0DC1E-6AA3-97D4-7F0C-7C2B3982ED63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Interpretation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Shows better performance compared to previous models.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Works well because it uses similarity between data points.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Still affected by overlapping between risk classes.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6716BD-4D8A-54E6-6329-A8E281811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06" y="329183"/>
            <a:ext cx="3572884" cy="3429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D4747D-A246-F937-BFF8-7EFE7C39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57805"/>
            <a:ext cx="3995928" cy="1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5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A3116-D929-A725-6E5B-1B915A3AA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9036A-3705-9F87-DB19-A9D576DA5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Model: </a:t>
            </a:r>
            <a:r>
              <a:rPr lang="en-US" sz="5400"/>
              <a:t>RANDOM FOREST</a:t>
            </a:r>
            <a:endParaRPr lang="en-US" sz="5400" dirty="0"/>
          </a:p>
        </p:txBody>
      </p:sp>
      <p:sp>
        <p:nvSpPr>
          <p:cNvPr id="5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AE1E6C-CBD5-DEAD-9D13-5283D09D7843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Interpretation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It combines multiple decision trees, which improves overall performance.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It handles complex patterns better than other models.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Gives balanced performance across all risk classes.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77D7E5-407C-028E-B2DF-522D1EC1E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06" y="329183"/>
            <a:ext cx="3572884" cy="3429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8D5DD9-0ED3-9764-8773-C7CEEEFAA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67158"/>
            <a:ext cx="3995928" cy="140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905DB-467E-A2B3-C61E-03476C42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11D5D-DEDF-1206-DC93-27A28F56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Model: </a:t>
            </a:r>
            <a:r>
              <a:rPr lang="en-US" sz="5400" dirty="0" err="1"/>
              <a:t>XGBoost</a:t>
            </a:r>
            <a:endParaRPr lang="en-US" sz="5400" dirty="0"/>
          </a:p>
        </p:txBody>
      </p:sp>
      <p:sp>
        <p:nvSpPr>
          <p:cNvPr id="6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7749E-6997-B3D4-5C66-FD196776C5CE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Interpretation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Performance is slightly lower than Random Forest.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It captures patterns well but does not outperform Random Forest in this case.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Still a strong model with good overall results.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C0F18B-ED33-2D1C-DAC1-408707986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06" y="329183"/>
            <a:ext cx="3572884" cy="3429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8F6CAB-7B00-2BDA-98E4-8B2660D60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62373"/>
            <a:ext cx="3995928" cy="140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99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11CA7-7E89-649F-9059-92B34651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FB11F-F8FF-2816-5B51-0A1FA4E20280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Best Model: Random Forest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Achieved highest performance among all models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Accuracy: 0.7209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F1 Score: 0.7153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Key Observations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Models perform moderately due to overlap between risk classes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Medium risk category is predicted better than High and Low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Combining ESG and market features improves prediction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Final Conclusion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The model is able to predict company risk using ESG and market data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Random Forest gives the most reliable results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Risk depends on both ESG scores and market behavior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82B78C-2C0C-273E-8879-38584F53D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811781"/>
            <a:ext cx="5458968" cy="323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5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769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Comic Sans MS</vt:lpstr>
      <vt:lpstr>Office Theme</vt:lpstr>
      <vt:lpstr>Investment Recommendation System Using ESG and Investor Behavior</vt:lpstr>
      <vt:lpstr>Model 1 – Company Risk Prediction (ESG + Market Data)</vt:lpstr>
      <vt:lpstr>DATA PREPROCESSING</vt:lpstr>
      <vt:lpstr>DATA PREPROCESSING</vt:lpstr>
      <vt:lpstr>DATA PREPROCESSING</vt:lpstr>
      <vt:lpstr>DATA PREPROCESSING</vt:lpstr>
      <vt:lpstr>Feature Transformation: From Raw Data to Final Model Inputs</vt:lpstr>
      <vt:lpstr>Model: Logistic Regression</vt:lpstr>
      <vt:lpstr>Model: SUPPORT VECTOR MACHINE (SVM)</vt:lpstr>
      <vt:lpstr>Model: K-NEAREST NEIGHBORS (KNN)</vt:lpstr>
      <vt:lpstr>Model: DECISION TREE</vt:lpstr>
      <vt:lpstr>Model: RANDOM FOREST</vt:lpstr>
      <vt:lpstr>Model: XGBoost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Mundra</dc:creator>
  <cp:lastModifiedBy>Harshit Mundra</cp:lastModifiedBy>
  <cp:revision>1</cp:revision>
  <dcterms:created xsi:type="dcterms:W3CDTF">2026-04-06T16:20:42Z</dcterms:created>
  <dcterms:modified xsi:type="dcterms:W3CDTF">2026-04-06T17:05:21Z</dcterms:modified>
</cp:coreProperties>
</file>